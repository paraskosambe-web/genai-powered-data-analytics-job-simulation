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DAA520"/>
                </a:solidFill>
              </a:defRPr>
            </a:pPr>
            <a:r>
              <a:t>EXECUTIVE BRIEFING &amp; SYSTEM ARCHITECTURE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AI-Powered Autonomous Debt-Management System</a:t>
            </a:r>
          </a:p>
          <a:p>
            <a:pPr>
              <a:spcAft>
                <a:spcPts val="3000"/>
              </a:spcAft>
              <a:defRPr sz="1600">
                <a:solidFill>
                  <a:srgbClr val="4682B4"/>
                </a:solidFill>
              </a:defRPr>
            </a:pPr>
            <a:r>
              <a:t>Leveraging Agentic AI for Scalable, Fair, and Responsible Collections Strategy at Geldium Finance</a:t>
            </a:r>
          </a:p>
          <a:p>
            <a:pPr>
              <a:defRPr sz="1100" i="1">
                <a:solidFill>
                  <a:srgbClr val="FFFFFF"/>
                </a:solidFill>
              </a:defRPr>
            </a:pPr>
            <a:r>
              <a:t>Prepared by: Paras Kosambe, AI Transformation Consultant (Tata iQ)</a:t>
            </a:r>
            <a:br/>
            <a:r>
              <a:t>Supervised by: Charithra, Senior Manager (Tata iQ) | 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682B4"/>
                </a:solidFill>
              </a:defRPr>
            </a:pPr>
            <a:r>
              <a:t>GELDIUM FINANCE | AI COLLECTIONS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1. Autonomous Debt-Management Architecture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Step 1: Data Pipeline</a:t>
            </a:r>
          </a:p>
          <a:p>
            <a:pPr>
              <a:spcAft>
                <a:spcPts val="1200"/>
              </a:spcAft>
              <a:defRPr sz="1000" b="1">
                <a:solidFill>
                  <a:srgbClr val="4682B4"/>
                </a:solidFill>
              </a:defRPr>
            </a:pPr>
            <a:r>
              <a:t>Real-Time Ingestion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Demographics &amp; Product Tier (Business/Student)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Credit Utilization Velocity (&gt;60% trigger)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Trailing 6-month payment friction logs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Real-time transaction &amp; bureau score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475488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Step 2: Decision Engine</a:t>
            </a:r>
          </a:p>
          <a:p>
            <a:pPr>
              <a:spcAft>
                <a:spcPts val="1200"/>
              </a:spcAft>
              <a:defRPr sz="1000" b="1">
                <a:solidFill>
                  <a:srgbClr val="4682B4"/>
                </a:solidFill>
              </a:defRPr>
            </a:pPr>
            <a:r>
              <a:t>Hybrid Predictive Model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Ingests XGBoost delinquency risk probability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Applies business rules &amp; hardship eligibility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Evaluates SHAP reason codes per account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Dynamic risk tiering (Low/Med/High)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468880" cy="475488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Step 3: Action Layer</a:t>
            </a:r>
          </a:p>
          <a:p>
            <a:pPr>
              <a:spcAft>
                <a:spcPts val="1200"/>
              </a:spcAft>
              <a:defRPr sz="1000" b="1">
                <a:solidFill>
                  <a:srgbClr val="4682B4"/>
                </a:solidFill>
              </a:defRPr>
            </a:pPr>
            <a:r>
              <a:t>Targeted Interventions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High Risk: Agent call + Hardship restructuring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Med Risk: Automated SMS/Email payment alerts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Low Risk: Standard monthly statement delivery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Self-service digital payment link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468880" cy="475488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Step 4: Learning Loop</a:t>
            </a:r>
          </a:p>
          <a:p>
            <a:pPr>
              <a:spcAft>
                <a:spcPts val="1200"/>
              </a:spcAft>
              <a:defRPr sz="1000" b="1">
                <a:solidFill>
                  <a:srgbClr val="4682B4"/>
                </a:solidFill>
              </a:defRPr>
            </a:pPr>
            <a:r>
              <a:t>Closed-Loop Optimization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Monitors 30/60/90-day repayment velocity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Tracks customer opt-in &amp; engagement rates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Feeds outcomes back to refine risk thresholds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Continuously reduces cost-to-collect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682B4"/>
                </a:solidFill>
              </a:defRPr>
            </a:pPr>
            <a:r>
              <a:t>GELDIUM FINANCE | AI COLLECTIONS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2. Role of Agentic AI: Autonomous vs. Human-in-the-Loop Oversight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3366"/>
                </a:solidFill>
              </a:defRPr>
            </a:pPr>
            <a:r>
              <a:t>AUTONOMOUS AGENTIC EXECUTION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Real-Time Scoring &amp; Ingestion: </a:t>
            </a:r>
            <a:r>
              <a:rPr sz="950">
                <a:solidFill>
                  <a:srgbClr val="333333"/>
                </a:solidFill>
              </a:rPr>
              <a:t>Continuous tracking of credit utilization velocity and payment friction without manual intervention.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Multi-Channel Digital Reminders: </a:t>
            </a:r>
            <a:r>
              <a:rPr sz="950">
                <a:solidFill>
                  <a:srgbClr val="333333"/>
                </a:solidFill>
              </a:rPr>
              <a:t>Automated dispatch of personalized SMS, WhatsApp, and Email alerts 5 days prior to due dates.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Self-Service Payment Link Generation: </a:t>
            </a:r>
            <a:r>
              <a:rPr sz="950">
                <a:solidFill>
                  <a:srgbClr val="333333"/>
                </a:solidFill>
              </a:rPr>
              <a:t>Instant delivery of flexible digital payment options and interest freeze choices for Medium-Risk tiers.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Outcome Analytics &amp; Loop Feeding: </a:t>
            </a:r>
            <a:r>
              <a:rPr sz="950">
                <a:solidFill>
                  <a:srgbClr val="333333"/>
                </a:solidFill>
              </a:rPr>
              <a:t>Autonomous monitoring of repayment response times and automatic calibration of model probability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3366"/>
                </a:solidFill>
              </a:defRPr>
            </a:pPr>
            <a:r>
              <a:t>HUMAN-IN-THE-LOOP OVERSIGHT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High-Risk Direct Outreach: </a:t>
            </a:r>
            <a:r>
              <a:rPr sz="950">
                <a:solidFill>
                  <a:srgbClr val="333333"/>
                </a:solidFill>
              </a:rPr>
              <a:t>Mandatory senior collection agent phone contact for severe delinquency (&gt;60% risk score, ≥2 missed payments).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Hardship Plan Exceptions &amp; Disputes: </a:t>
            </a:r>
            <a:r>
              <a:rPr sz="950">
                <a:solidFill>
                  <a:srgbClr val="333333"/>
                </a:solidFill>
              </a:rPr>
              <a:t>Human manager approval for custom debt restructuring, balance waivers, or formal customer disputes.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Account Freezes &amp; Credit Decreases: </a:t>
            </a:r>
            <a:r>
              <a:rPr sz="950">
                <a:solidFill>
                  <a:srgbClr val="333333"/>
                </a:solidFill>
              </a:rPr>
              <a:t>Strict human review before executing mandatory credit line reductions or account suspensions.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3366"/>
                </a:solidFill>
              </a:rPr>
              <a:t>• Model Governance &amp; Fairness Audits: </a:t>
            </a:r>
            <a:r>
              <a:rPr sz="950">
                <a:solidFill>
                  <a:srgbClr val="333333"/>
                </a:solidFill>
              </a:rPr>
              <a:t>Quarterly oversight by Risk &amp; Compliance officers to audit bias metrics and regulatory alignment.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682B4"/>
                </a:solidFill>
              </a:defRPr>
            </a:pPr>
            <a:r>
              <a:t>GELDIUM FINANCE | AI COLLECTIONS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3. Responsible AI Guardrails: Fairness, Transparency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4682B4"/>
                </a:solidFill>
              </a:defRPr>
            </a:pPr>
            <a:r>
              <a:t>Fairness &amp; Bias Safeguards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003366"/>
                </a:solidFill>
              </a:rPr>
              <a:t>• Disparate Impact Audits: </a:t>
            </a:r>
            <a:r>
              <a:rPr sz="900">
                <a:solidFill>
                  <a:srgbClr val="333333"/>
                </a:solidFill>
              </a:rPr>
              <a:t>Continuous monitoring of Adverse Impact Ratios (AIR) across age and regional tiers to strictly enforce the 80% rule (AIR 0.80–1.25).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003366"/>
                </a:solidFill>
              </a:rPr>
              <a:t>• Proxy Variable Exclusion: </a:t>
            </a:r>
            <a:r>
              <a:rPr sz="900">
                <a:solidFill>
                  <a:srgbClr val="333333"/>
                </a:solidFill>
              </a:rPr>
              <a:t>Unlinking protected demographic characteristics and geographic proxies from predictive scoring rules to ensure equitable treatment.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1463040"/>
            <a:ext cx="3328416" cy="47548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713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3366"/>
                </a:solidFill>
              </a:defRPr>
            </a:pPr>
            <a:r>
              <a:t>Explainability Requirements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003366"/>
                </a:solidFill>
              </a:rPr>
              <a:t>• SHAP Reason Codes: </a:t>
            </a:r>
            <a:r>
              <a:rPr sz="900">
                <a:solidFill>
                  <a:srgbClr val="333333"/>
                </a:solidFill>
              </a:rPr>
              <a:t>Generating top 3 plain-language reason codes (e.g., 'Credit Utilization &gt;65%') for every account score to meet Fair Lending standards.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003366"/>
                </a:solidFill>
              </a:rPr>
              <a:t>• Transparent Risk Tiers: </a:t>
            </a:r>
            <a:r>
              <a:rPr sz="900">
                <a:solidFill>
                  <a:srgbClr val="333333"/>
                </a:solidFill>
              </a:rPr>
              <a:t>Translating complex probability scores into understandable operational tiers (Low &lt;30%, Med 30–60%, High &gt;60%) for non-technical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36992" y="1463040"/>
            <a:ext cx="3328416" cy="47548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AA520"/>
                </a:solidFill>
              </a:defRPr>
            </a:pPr>
            <a:r>
              <a:t>Regulatory Compliance Framework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003366"/>
                </a:solidFill>
              </a:rPr>
              <a:t>• ECOA &amp; FCRA Alignment: </a:t>
            </a:r>
            <a:r>
              <a:rPr sz="900">
                <a:solidFill>
                  <a:srgbClr val="333333"/>
                </a:solidFill>
              </a:rPr>
              <a:t>Ensuring fair credit opportunity and mandatory Adverse Action notice compliance whenever credit access or terms are modified.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003366"/>
                </a:solidFill>
              </a:rPr>
              <a:t>• FCA Consumer Duty: </a:t>
            </a:r>
            <a:r>
              <a:rPr sz="900">
                <a:solidFill>
                  <a:srgbClr val="333333"/>
                </a:solidFill>
              </a:rPr>
              <a:t>Proportionate collection outreach preventing aggressive escalation for vulnerable, distressed borrowers.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003366"/>
                </a:solidFill>
              </a:rPr>
              <a:t>• GDPR Auditability: </a:t>
            </a:r>
            <a:r>
              <a:rPr sz="900">
                <a:solidFill>
                  <a:srgbClr val="333333"/>
                </a:solidFill>
              </a:rPr>
              <a:t>Maintaining immutable, traceable logs of data sources, model versions, and decision logic for regulatory audits.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682B4"/>
                </a:solidFill>
              </a:defRPr>
            </a:pPr>
            <a:r>
              <a:t>GELDIUM FINANCE | AI COLLECTIONS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4. Expected Business Impact: Quantitative &amp; Qualitative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3366"/>
                </a:solidFill>
              </a:defRPr>
            </a:pPr>
            <a:r>
              <a:t>QUANTITATIVE BUSINESS KPIS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15% Reduction in 30+ Day Delinquency: </a:t>
            </a:r>
            <a:r>
              <a:rPr sz="950">
                <a:solidFill>
                  <a:srgbClr val="333333"/>
                </a:solidFill>
              </a:rPr>
              <a:t>Early hardship intervention catches distressed cardholders before write-off escalation.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25% Hardship Plan Opt-In Rate: </a:t>
            </a:r>
            <a:r>
              <a:rPr sz="950">
                <a:solidFill>
                  <a:srgbClr val="333333"/>
                </a:solidFill>
              </a:rPr>
              <a:t>Proactive SMS/Email outreach converts distressed borrowers into structured 3-month repayment plans.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40% Operational Cost Reduction: </a:t>
            </a:r>
            <a:r>
              <a:rPr sz="950">
                <a:solidFill>
                  <a:srgbClr val="333333"/>
                </a:solidFill>
              </a:rPr>
              <a:t>Automating digital reminders for Low/Medium-Risk tiers reallocates agent capacity to severe default cases.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18% Increase in Capital Recovery: </a:t>
            </a:r>
            <a:r>
              <a:rPr sz="950">
                <a:solidFill>
                  <a:srgbClr val="333333"/>
                </a:solidFill>
              </a:rPr>
              <a:t>Optimized agent targeting boosts total principal recovered across delinquent cohorts.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3366"/>
                </a:solidFill>
              </a:defRPr>
            </a:pPr>
            <a:r>
              <a:t>QUALITATIVE CUSTOMER &amp; STRATEGIC OUTCOMES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Enhanced Customer Trust &amp; Loyalty: </a:t>
            </a:r>
            <a:r>
              <a:rPr sz="950">
                <a:solidFill>
                  <a:srgbClr val="333333"/>
                </a:solidFill>
              </a:rPr>
              <a:t>Proactive support and hardship options reduce friction, preserving long-term brand goodwill.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Guaranteed Fairness &amp; Non-Discrimination: </a:t>
            </a:r>
            <a:r>
              <a:rPr sz="950">
                <a:solidFill>
                  <a:srgbClr val="333333"/>
                </a:solidFill>
              </a:rPr>
              <a:t>Automated AIR monitoring ensures equal treatment across demographic and product tiers.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Scalable Portfolio Growth: </a:t>
            </a:r>
            <a:r>
              <a:rPr sz="950">
                <a:solidFill>
                  <a:srgbClr val="333333"/>
                </a:solidFill>
              </a:rPr>
              <a:t>Agentic architecture seamlessly scales to handle expanding cardholder volume without linear staffing costs.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003366"/>
                </a:solidFill>
              </a:rPr>
              <a:t>• Audit-Ready Regulatory Compliance: </a:t>
            </a:r>
            <a:r>
              <a:rPr sz="950">
                <a:solidFill>
                  <a:srgbClr val="333333"/>
                </a:solidFill>
              </a:rPr>
              <a:t>End-to-end SHAP explainability and immutable logging guarantee full compliance with ECOA, FCRA, and GDPR.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